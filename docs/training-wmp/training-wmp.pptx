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1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Relationship Id="rId3" Type="http://schemas.openxmlformats.org/officeDocument/2006/relationships/image" Target="../media/image6_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2.png"/><Relationship Id="rId3" Type="http://schemas.openxmlformats.org/officeDocument/2006/relationships/image" Target="../media/image7_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8_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027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kicker"/>
          <p:cNvSpPr txBox="1"/>
          <p:nvPr/>
        </p:nvSpPr>
        <p:spPr>
          <a:xfrm>
            <a:off x="685800" y="609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40" kern="0">
                <a:solidFill>
                  <a:srgbClr val="A9C5BC"/>
                </a:solidFill>
                <a:latin typeface="MiSans"/>
                <a:ea typeface="MiSans"/>
              </a:rPr>
              <a:t>WMP  /  用户操作培训</a:t>
            </a:r>
            <a:endParaRPr lang="en-US" sz="1200" noProof="1"/>
          </a:p>
        </p:txBody>
      </p:sp>
      <p:sp>
        <p:nvSpPr>
          <p:cNvPr id="3" name="cover-accent"/>
          <p:cNvSpPr/>
          <p:nvPr/>
        </p:nvSpPr>
        <p:spPr>
          <a:xfrm>
            <a:off x="685800" y="1333500"/>
            <a:ext cx="63500" cy="1600200"/>
          </a:xfrm>
          <a:prstGeom prst="rect">
            <a:avLst/>
          </a:prstGeom>
          <a:solidFill>
            <a:srgbClr val="D98E32"/>
          </a:solidFill>
          <a:ln>
            <a:noFill/>
          </a:ln>
        </p:spPr>
      </p:sp>
      <p:sp>
        <p:nvSpPr>
          <p:cNvPr id="4" name="cover-title"/>
          <p:cNvSpPr txBox="1"/>
          <p:nvPr/>
        </p:nvSpPr>
        <p:spPr>
          <a:xfrm>
            <a:off x="1041400" y="1320800"/>
            <a:ext cx="40005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3500" noProof="1" b="1">
                <a:solidFill>
                  <a:srgbClr val="FFFFFF"/>
                </a:solidFill>
                <a:latin typeface="MiSans"/>
                <a:ea typeface="MiSans"/>
              </a:rPr>
              <a:t>规避措施管理平台
截图操作演示</a:t>
            </a:r>
            <a:endParaRPr lang="en-US" sz="3500" noProof="1"/>
          </a:p>
        </p:txBody>
      </p:sp>
      <p:sp>
        <p:nvSpPr>
          <p:cNvPr id="5" name="cover-subtitle"/>
          <p:cNvSpPr txBox="1"/>
          <p:nvPr/>
        </p:nvSpPr>
        <p:spPr>
          <a:xfrm>
            <a:off x="1041400" y="3149600"/>
            <a:ext cx="368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C8D8D2"/>
                </a:solidFill>
                <a:latin typeface="MiSans"/>
                <a:ea typeface="MiSans"/>
              </a:rPr>
              <a:t>登记、编排、审核、构建与统计
按真实页面逐步操作</a:t>
            </a:r>
            <a:endParaRPr lang="en-US" sz="1600" noProof="1"/>
          </a:p>
        </p:txBody>
      </p:sp>
      <p:pic>
        <p:nvPicPr>
          <p:cNvPr id="6" name="cover-image"/>
          <p:cNvPicPr/>
          <p:nvPr/>
        </p:nvPicPr>
        <p:blipFill>
          <a:blip r:embed="rId2"/>
          <a:srcRect t="-54" b="-54"/>
          <a:stretch>
            <a:fillRect/>
          </a:stretch>
        </p:blipFill>
        <p:spPr>
          <a:xfrm>
            <a:off x="5143500" y="914400"/>
            <a:ext cx="6540500" cy="3683000"/>
          </a:xfrm>
          <a:prstGeom prst="rect">
            <a:avLst/>
          </a:prstGeom>
          <a:ln>
            <a:noFill/>
          </a:ln>
          <a:effectLst>
            <a:outerShdw blurRad="228600" dist="114300" dir="5400000" sx="100000" sy="100000" kx="0" ky="0" algn="bl" rotWithShape="0">
              <a:srgbClr val="000000">
                <a:alpha val="33333"/>
              </a:srgbClr>
            </a:outerShdw>
          </a:effectLst>
        </p:spPr>
      </p:pic>
      <p:sp>
        <p:nvSpPr>
          <p:cNvPr id="7" name="cover-image-border"/>
          <p:cNvSpPr/>
          <p:nvPr/>
        </p:nvSpPr>
        <p:spPr>
          <a:xfrm>
            <a:off x="5143500" y="914400"/>
            <a:ext cx="6540500" cy="3683000"/>
          </a:xfrm>
          <a:prstGeom prst="rect">
            <a:avLst/>
          </a:prstGeom>
          <a:noFill/>
          <a:ln w="12700">
            <a:solidFill>
              <a:srgbClr val="D8DDD7">
                <a:alpha val="33333"/>
              </a:srgbClr>
            </a:solidFill>
          </a:ln>
        </p:spPr>
      </p:sp>
      <p:sp>
        <p:nvSpPr>
          <p:cNvPr id="8" name="cover-caption"/>
          <p:cNvSpPr txBox="1"/>
          <p:nvPr/>
        </p:nvSpPr>
        <p:spPr>
          <a:xfrm>
            <a:off x="5143500" y="4749800"/>
            <a:ext cx="65405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A9C5BC"/>
                </a:solidFill>
                <a:latin typeface="MiSans"/>
                <a:ea typeface="MiSans"/>
              </a:rPr>
              <a:t>WMP 实际界面 · 首页</a:t>
            </a:r>
            <a:endParaRPr lang="en-US" sz="1100" noProof="1"/>
          </a:p>
        </p:txBody>
      </p:sp>
      <p:sp>
        <p:nvSpPr>
          <p:cNvPr id="9" name="cover-flow"/>
          <p:cNvSpPr txBox="1"/>
          <p:nvPr/>
        </p:nvSpPr>
        <p:spPr>
          <a:xfrm>
            <a:off x="685800" y="5626100"/>
            <a:ext cx="939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新建 WKD   →   自验证   →   软件经理审核   →   构建发布</a:t>
            </a:r>
            <a:endParaRPr lang="en-US" sz="1600" noProof="1"/>
          </a:p>
        </p:txBody>
      </p:sp>
      <p:sp>
        <p:nvSpPr>
          <p:cNvPr id="10" name="cover-note"/>
          <p:cNvSpPr txBox="1"/>
          <p:nvPr/>
        </p:nvSpPr>
        <p:spPr>
          <a:xfrm>
            <a:off x="685800" y="61976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9A69C"/>
                </a:solidFill>
                <a:latin typeface="MiSans"/>
                <a:ea typeface="MiSans"/>
              </a:rPr>
              <a:t>培训示例使用演示数据，操作入口与真实系统一致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-label"/>
          <p:cNvSpPr txBox="1"/>
          <p:nvPr/>
        </p:nvSpPr>
        <p:spPr>
          <a:xfrm>
            <a:off x="558800" y="3175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01  登录与上下文</a:t>
            </a:r>
            <a:endParaRPr lang="en-US" sz="1200" noProof="1"/>
          </a:p>
        </p:txBody>
      </p:sp>
      <p:sp>
        <p:nvSpPr>
          <p:cNvPr id="3" name="p2-title"/>
          <p:cNvSpPr txBox="1"/>
          <p:nvPr/>
        </p:nvSpPr>
        <p:spPr>
          <a:xfrm>
            <a:off x="558800" y="647700"/>
            <a:ext cx="965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登录后，先确认项目与版本</a:t>
            </a:r>
            <a:endParaRPr lang="en-US" sz="2900" noProof="1"/>
          </a:p>
        </p:txBody>
      </p:sp>
      <p:pic>
        <p:nvPicPr>
          <p:cNvPr id="4" name="p2-login"/>
          <p:cNvPicPr/>
          <p:nvPr/>
        </p:nvPicPr>
        <p:blipFill>
          <a:blip r:embed="rId2"/>
          <a:srcRect t="-81" b="-81"/>
          <a:stretch>
            <a:fillRect/>
          </a:stretch>
        </p:blipFill>
        <p:spPr>
          <a:xfrm>
            <a:off x="558800" y="1473200"/>
            <a:ext cx="5207000" cy="2933700"/>
          </a:xfrm>
          <a:prstGeom prst="rect">
            <a:avLst/>
          </a:prstGeom>
          <a:ln>
            <a:noFill/>
          </a:ln>
          <a:effectLst>
            <a:outerShdw blurRad="1016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5" name="p2-login-border"/>
          <p:cNvSpPr/>
          <p:nvPr/>
        </p:nvSpPr>
        <p:spPr>
          <a:xfrm>
            <a:off x="558800" y="1473200"/>
            <a:ext cx="5207000" cy="29337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pic>
        <p:nvPicPr>
          <p:cNvPr id="6" name="p2-home"/>
          <p:cNvPicPr/>
          <p:nvPr/>
        </p:nvPicPr>
        <p:blipFill>
          <a:blip r:embed="rId3"/>
          <a:srcRect t="-26" b="-26"/>
          <a:stretch>
            <a:fillRect/>
          </a:stretch>
        </p:blipFill>
        <p:spPr>
          <a:xfrm>
            <a:off x="6172200" y="1473200"/>
            <a:ext cx="5461000" cy="3073400"/>
          </a:xfrm>
          <a:prstGeom prst="rect">
            <a:avLst/>
          </a:prstGeom>
          <a:ln>
            <a:noFill/>
          </a:ln>
          <a:effectLst>
            <a:outerShdw blurRad="1016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7" name="p2-home-border"/>
          <p:cNvSpPr/>
          <p:nvPr/>
        </p:nvSpPr>
        <p:spPr>
          <a:xfrm>
            <a:off x="6172200" y="1473200"/>
            <a:ext cx="5461000" cy="30734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8" name="p2-login-caption"/>
          <p:cNvSpPr txBox="1"/>
          <p:nvPr/>
        </p:nvSpPr>
        <p:spPr>
          <a:xfrm>
            <a:off x="558800" y="46355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7211F"/>
                </a:solidFill>
                <a:latin typeface="MiSans"/>
                <a:ea typeface="MiSans"/>
              </a:rPr>
              <a:t>① 使用企业 OAuth，或管理员分配的账号登录</a:t>
            </a:r>
            <a:endParaRPr lang="en-US" sz="1400" noProof="1"/>
          </a:p>
        </p:txBody>
      </p:sp>
      <p:sp>
        <p:nvSpPr>
          <p:cNvPr id="9" name="p2-home-caption"/>
          <p:cNvSpPr txBox="1"/>
          <p:nvPr/>
        </p:nvSpPr>
        <p:spPr>
          <a:xfrm>
            <a:off x="6172200" y="46355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7211F"/>
                </a:solidFill>
                <a:latin typeface="MiSans"/>
                <a:ea typeface="MiSans"/>
              </a:rPr>
              <a:t>② 在页面顶部切换当前项目与版本</a:t>
            </a:r>
            <a:endParaRPr lang="en-US" sz="1400" noProof="1"/>
          </a:p>
        </p:txBody>
      </p:sp>
      <p:sp>
        <p:nvSpPr>
          <p:cNvPr id="10" name="p2-rule"/>
          <p:cNvSpPr/>
          <p:nvPr/>
        </p:nvSpPr>
        <p:spPr>
          <a:xfrm>
            <a:off x="558800" y="5334000"/>
            <a:ext cx="11074400" cy="12700"/>
          </a:xfrm>
          <a:prstGeom prst="rect">
            <a:avLst/>
          </a:prstGeom>
          <a:solidFill>
            <a:srgbClr val="D8DDD7"/>
          </a:solidFill>
          <a:ln>
            <a:noFill/>
          </a:ln>
        </p:spPr>
      </p:sp>
      <p:sp>
        <p:nvSpPr>
          <p:cNvPr id="11" name="p2-note"/>
          <p:cNvSpPr txBox="1"/>
          <p:nvPr/>
        </p:nvSpPr>
        <p:spPr>
          <a:xfrm>
            <a:off x="558800" y="5600700"/>
            <a:ext cx="11074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0E5A55"/>
                </a:solidFill>
                <a:latin typeface="MiSans"/>
                <a:ea typeface="MiSans"/>
              </a:rPr>
              <a:t>项目决定可见数据与项目角色；新建 WKD 自动带入当前项目和版本。</a:t>
            </a:r>
            <a:endParaRPr lang="en-US" sz="1600" noProof="1"/>
          </a:p>
        </p:txBody>
      </p:sp>
      <p:sp>
        <p:nvSpPr>
          <p:cNvPr id="12" name="p2-page"/>
          <p:cNvSpPr txBox="1"/>
          <p:nvPr/>
        </p:nvSpPr>
        <p:spPr>
          <a:xfrm>
            <a:off x="11150600" y="64135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3-label"/>
          <p:cNvSpPr txBox="1"/>
          <p:nvPr/>
        </p:nvSpPr>
        <p:spPr>
          <a:xfrm>
            <a:off x="558800" y="304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02  工作台</a:t>
            </a:r>
            <a:endParaRPr lang="en-US" sz="1200" noProof="1"/>
          </a:p>
        </p:txBody>
      </p:sp>
      <p:sp>
        <p:nvSpPr>
          <p:cNvPr id="3" name="p3-title"/>
          <p:cNvSpPr txBox="1"/>
          <p:nvPr/>
        </p:nvSpPr>
        <p:spPr>
          <a:xfrm>
            <a:off x="558800" y="622300"/>
            <a:ext cx="609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从列表找到要处理的 WKD</a:t>
            </a:r>
            <a:endParaRPr lang="en-US" sz="2900" noProof="1"/>
          </a:p>
        </p:txBody>
      </p:sp>
      <p:sp>
        <p:nvSpPr>
          <p:cNvPr id="4" name="p3-tags"/>
          <p:cNvSpPr txBox="1"/>
          <p:nvPr/>
        </p:nvSpPr>
        <p:spPr>
          <a:xfrm>
            <a:off x="7112000" y="723900"/>
            <a:ext cx="4521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搜索  ·  组合筛选  ·  新建登记</a:t>
            </a:r>
            <a:endParaRPr lang="en-US" sz="1400" noProof="1"/>
          </a:p>
        </p:txBody>
      </p:sp>
      <p:pic>
        <p:nvPicPr>
          <p:cNvPr id="5" name="p3-image"/>
          <p:cNvPicPr/>
          <p:nvPr/>
        </p:nvPicPr>
        <p:blipFill>
          <a:blip r:embed="rId2"/>
          <a:srcRect l="-9817" r="-9817"/>
          <a:stretch>
            <a:fillRect/>
          </a:stretch>
        </p:blipFill>
        <p:spPr>
          <a:xfrm>
            <a:off x="558800" y="1219200"/>
            <a:ext cx="11074400" cy="5207000"/>
          </a:xfrm>
          <a:prstGeom prst="rect">
            <a:avLst/>
          </a:prstGeom>
          <a:ln>
            <a:noFill/>
          </a:ln>
          <a:effectLst>
            <a:outerShdw blurRad="1143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6" name="p3-image-border"/>
          <p:cNvSpPr/>
          <p:nvPr/>
        </p:nvSpPr>
        <p:spPr>
          <a:xfrm>
            <a:off x="558800" y="1219200"/>
            <a:ext cx="11074400" cy="52070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7" name="p3-page"/>
          <p:cNvSpPr txBox="1"/>
          <p:nvPr/>
        </p:nvSpPr>
        <p:spPr>
          <a:xfrm>
            <a:off x="11150600" y="65278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4-label"/>
          <p:cNvSpPr txBox="1"/>
          <p:nvPr/>
        </p:nvSpPr>
        <p:spPr>
          <a:xfrm>
            <a:off x="558800" y="304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03  新建 WKD</a:t>
            </a:r>
            <a:endParaRPr lang="en-US" sz="1200" noProof="1"/>
          </a:p>
        </p:txBody>
      </p:sp>
      <p:sp>
        <p:nvSpPr>
          <p:cNvPr id="3" name="p4-title"/>
          <p:cNvSpPr txBox="1"/>
          <p:nvPr/>
        </p:nvSpPr>
        <p:spPr>
          <a:xfrm>
            <a:off x="558800" y="62230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在详情页完成登记与编排</a:t>
            </a:r>
            <a:endParaRPr lang="en-US" sz="2900" noProof="1"/>
          </a:p>
        </p:txBody>
      </p:sp>
      <p:sp>
        <p:nvSpPr>
          <p:cNvPr id="4" name="p4-tags"/>
          <p:cNvSpPr txBox="1"/>
          <p:nvPr/>
        </p:nvSpPr>
        <p:spPr>
          <a:xfrm>
            <a:off x="6604000" y="647700"/>
            <a:ext cx="5029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基本信息  ·  业务归属  ·  单据与版本
问题单号与需求单号至少填写一项</a:t>
            </a:r>
            <a:endParaRPr lang="en-US" sz="1300" noProof="1"/>
          </a:p>
        </p:txBody>
      </p:sp>
      <p:pic>
        <p:nvPicPr>
          <p:cNvPr id="5" name="p4-image"/>
          <p:cNvPicPr/>
          <p:nvPr/>
        </p:nvPicPr>
        <p:blipFill>
          <a:blip r:embed="rId2"/>
          <a:srcRect l="-11313" r="-11313"/>
          <a:stretch>
            <a:fillRect/>
          </a:stretch>
        </p:blipFill>
        <p:spPr>
          <a:xfrm>
            <a:off x="558800" y="1320800"/>
            <a:ext cx="11074400" cy="5080000"/>
          </a:xfrm>
          <a:prstGeom prst="rect">
            <a:avLst/>
          </a:prstGeom>
          <a:ln>
            <a:noFill/>
          </a:ln>
          <a:effectLst>
            <a:outerShdw blurRad="1143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6" name="p4-image-border"/>
          <p:cNvSpPr/>
          <p:nvPr/>
        </p:nvSpPr>
        <p:spPr>
          <a:xfrm>
            <a:off x="558800" y="1320800"/>
            <a:ext cx="11074400" cy="50800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7" name="p4-page"/>
          <p:cNvSpPr txBox="1"/>
          <p:nvPr/>
        </p:nvSpPr>
        <p:spPr>
          <a:xfrm>
            <a:off x="11150600" y="65278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04</a:t>
            </a:r>
            <a:endParaRPr lang="en-US" sz="13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-label"/>
          <p:cNvSpPr txBox="1"/>
          <p:nvPr/>
        </p:nvSpPr>
        <p:spPr>
          <a:xfrm>
            <a:off x="558800" y="304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04  原子操作编排</a:t>
            </a:r>
            <a:endParaRPr lang="en-US" sz="1200" noProof="1"/>
          </a:p>
        </p:txBody>
      </p:sp>
      <p:sp>
        <p:nvSpPr>
          <p:cNvPr id="3" name="p5-title"/>
          <p:cNvSpPr txBox="1"/>
          <p:nvPr/>
        </p:nvSpPr>
        <p:spPr>
          <a:xfrm>
            <a:off x="558800" y="6223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选择阶段，添加操作并排序</a:t>
            </a:r>
            <a:endParaRPr lang="en-US" sz="2900" noProof="1"/>
          </a:p>
        </p:txBody>
      </p:sp>
      <p:sp>
        <p:nvSpPr>
          <p:cNvPr id="4" name="p5-tags"/>
          <p:cNvSpPr txBox="1"/>
          <p:nvPr/>
        </p:nvSpPr>
        <p:spPr>
          <a:xfrm>
            <a:off x="6794500" y="723900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执行阶段  ·  拖拽卡片  ·  右侧操作库</a:t>
            </a:r>
            <a:endParaRPr lang="en-US" sz="1400" noProof="1"/>
          </a:p>
        </p:txBody>
      </p:sp>
      <p:pic>
        <p:nvPicPr>
          <p:cNvPr id="5" name="p5-image"/>
          <p:cNvPicPr/>
          <p:nvPr/>
        </p:nvPicPr>
        <p:blipFill>
          <a:blip r:embed="rId2"/>
          <a:srcRect l="-9817" r="-9817"/>
          <a:stretch>
            <a:fillRect/>
          </a:stretch>
        </p:blipFill>
        <p:spPr>
          <a:xfrm>
            <a:off x="558800" y="1219200"/>
            <a:ext cx="11074400" cy="5207000"/>
          </a:xfrm>
          <a:prstGeom prst="rect">
            <a:avLst/>
          </a:prstGeom>
          <a:ln>
            <a:noFill/>
          </a:ln>
          <a:effectLst>
            <a:outerShdw blurRad="1143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6" name="p5-image-border"/>
          <p:cNvSpPr/>
          <p:nvPr/>
        </p:nvSpPr>
        <p:spPr>
          <a:xfrm>
            <a:off x="558800" y="1219200"/>
            <a:ext cx="11074400" cy="52070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7" name="p5-page"/>
          <p:cNvSpPr txBox="1"/>
          <p:nvPr/>
        </p:nvSpPr>
        <p:spPr>
          <a:xfrm>
            <a:off x="11150600" y="65278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05</a:t>
            </a: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6-label"/>
          <p:cNvSpPr txBox="1"/>
          <p:nvPr/>
        </p:nvSpPr>
        <p:spPr>
          <a:xfrm>
            <a:off x="558800" y="304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05  自验证</a:t>
            </a:r>
            <a:endParaRPr lang="en-US" sz="1200" noProof="1"/>
          </a:p>
        </p:txBody>
      </p:sp>
      <p:sp>
        <p:nvSpPr>
          <p:cNvPr id="3" name="p6-title"/>
          <p:cNvSpPr txBox="1"/>
          <p:nvPr/>
        </p:nvSpPr>
        <p:spPr>
          <a:xfrm>
            <a:off x="558800" y="6223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记录验证结果，再提交软件经理审核</a:t>
            </a:r>
            <a:endParaRPr lang="en-US" sz="2900" noProof="1"/>
          </a:p>
        </p:txBody>
      </p:sp>
      <p:pic>
        <p:nvPicPr>
          <p:cNvPr id="4" name="p6-main"/>
          <p:cNvPicPr/>
          <p:nvPr/>
        </p:nvPicPr>
        <p:blipFill>
          <a:blip r:embed="rId2"/>
          <a:srcRect l="-18" r="-18"/>
          <a:stretch>
            <a:fillRect/>
          </a:stretch>
        </p:blipFill>
        <p:spPr>
          <a:xfrm>
            <a:off x="558800" y="1371600"/>
            <a:ext cx="7747000" cy="4356100"/>
          </a:xfrm>
          <a:prstGeom prst="rect">
            <a:avLst/>
          </a:prstGeom>
          <a:ln>
            <a:noFill/>
          </a:ln>
          <a:effectLst>
            <a:outerShdw blurRad="1016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5" name="p6-main-border"/>
          <p:cNvSpPr/>
          <p:nvPr/>
        </p:nvSpPr>
        <p:spPr>
          <a:xfrm>
            <a:off x="558800" y="1371600"/>
            <a:ext cx="7747000" cy="43561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pic>
        <p:nvPicPr>
          <p:cNvPr id="6" name="p6-side"/>
          <p:cNvPicPr/>
          <p:nvPr/>
        </p:nvPicPr>
        <p:blipFill>
          <a:blip r:embed="rId3"/>
          <a:srcRect t="-94" b="-94"/>
          <a:stretch>
            <a:fillRect/>
          </a:stretch>
        </p:blipFill>
        <p:spPr>
          <a:xfrm>
            <a:off x="8636000" y="1371600"/>
            <a:ext cx="2997200" cy="1689100"/>
          </a:xfrm>
          <a:prstGeom prst="rect">
            <a:avLst/>
          </a:prstGeom>
          <a:ln>
            <a:noFill/>
          </a:ln>
        </p:spPr>
      </p:pic>
      <p:sp>
        <p:nvSpPr>
          <p:cNvPr id="7" name="p6-side-border"/>
          <p:cNvSpPr/>
          <p:nvPr/>
        </p:nvSpPr>
        <p:spPr>
          <a:xfrm>
            <a:off x="8636000" y="1371600"/>
            <a:ext cx="2997200" cy="16891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8" name="p6-side-caption"/>
          <p:cNvSpPr txBox="1"/>
          <p:nvPr/>
        </p:nvSpPr>
        <p:spPr>
          <a:xfrm>
            <a:off x="8636000" y="3162300"/>
            <a:ext cx="299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5716C"/>
                </a:solidFill>
                <a:latin typeface="MiSans"/>
                <a:ea typeface="MiSans"/>
              </a:rPr>
              <a:t>提交后进入 REVIEW</a:t>
            </a:r>
            <a:endParaRPr lang="en-US" sz="1200" noProof="1"/>
          </a:p>
        </p:txBody>
      </p:sp>
      <p:sp>
        <p:nvSpPr>
          <p:cNvPr id="9" name="p6-steps"/>
          <p:cNvSpPr txBox="1"/>
          <p:nvPr/>
        </p:nvSpPr>
        <p:spPr>
          <a:xfrm>
            <a:off x="8636000" y="3695700"/>
            <a:ext cx="2997200" cy="180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 b="1">
                <a:solidFill>
                  <a:srgbClr val="D98E32"/>
                </a:solidFill>
                <a:latin typeface="MiSans"/>
                <a:ea typeface="MiSans"/>
              </a:rPr>
              <a:t>1</a:t>
            </a:r>
            <a:r>
              <a:rPr lang="en-US" sz="1500" noProof="1">
                <a:solidFill>
                  <a:srgbClr val="17211F"/>
                </a:solidFill>
                <a:latin typeface="MiSans"/>
                <a:ea typeface="MiSans"/>
              </a:rPr>
              <a:t>　填写自验证说明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 b="1">
                <a:solidFill>
                  <a:srgbClr val="D98E32"/>
                </a:solidFill>
                <a:latin typeface="MiSans"/>
                <a:ea typeface="MiSans"/>
              </a:rPr>
              <a:t>2</a:t>
            </a:r>
            <a:r>
              <a:rPr lang="en-US" sz="1500" noProof="1">
                <a:solidFill>
                  <a:srgbClr val="17211F"/>
                </a:solidFill>
                <a:latin typeface="MiSans"/>
                <a:ea typeface="MiSans"/>
              </a:rPr>
              <a:t>　选择软件经理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 b="1">
                <a:solidFill>
                  <a:srgbClr val="D98E32"/>
                </a:solidFill>
                <a:latin typeface="MiSans"/>
                <a:ea typeface="MiSans"/>
              </a:rPr>
              <a:t>3</a:t>
            </a:r>
            <a:r>
              <a:rPr lang="en-US" sz="1500" noProof="1">
                <a:solidFill>
                  <a:srgbClr val="17211F"/>
                </a:solidFill>
                <a:latin typeface="MiSans"/>
                <a:ea typeface="MiSans"/>
              </a:rPr>
              <a:t>　确认并提交审核</a:t>
            </a:r>
            <a:endParaRPr lang="en-US" sz="1500" noProof="1"/>
          </a:p>
        </p:txBody>
      </p:sp>
      <p:sp>
        <p:nvSpPr>
          <p:cNvPr id="10" name="p6-footer"/>
          <p:cNvSpPr txBox="1"/>
          <p:nvPr/>
        </p:nvSpPr>
        <p:spPr>
          <a:xfrm>
            <a:off x="558800" y="60198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E5A55"/>
                </a:solidFill>
                <a:latin typeface="MiSans"/>
                <a:ea typeface="MiSans"/>
              </a:rPr>
              <a:t>提交前核对执行阶段、原子操作顺序和附件。</a:t>
            </a:r>
            <a:endParaRPr lang="en-US" sz="1400" noProof="1"/>
          </a:p>
        </p:txBody>
      </p:sp>
      <p:sp>
        <p:nvSpPr>
          <p:cNvPr id="11" name="p6-page"/>
          <p:cNvSpPr txBox="1"/>
          <p:nvPr/>
        </p:nvSpPr>
        <p:spPr>
          <a:xfrm>
            <a:off x="11150600" y="64135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06</a:t>
            </a:r>
            <a:endParaRPr lang="en-US" sz="13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7-label"/>
          <p:cNvSpPr txBox="1"/>
          <p:nvPr/>
        </p:nvSpPr>
        <p:spPr>
          <a:xfrm>
            <a:off x="558800" y="304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06  软件经理审核</a:t>
            </a:r>
            <a:endParaRPr lang="en-US" sz="1200" noProof="1"/>
          </a:p>
        </p:txBody>
      </p:sp>
      <p:sp>
        <p:nvSpPr>
          <p:cNvPr id="3" name="p7-title"/>
          <p:cNvSpPr txBox="1"/>
          <p:nvPr/>
        </p:nvSpPr>
        <p:spPr>
          <a:xfrm>
            <a:off x="558800" y="6223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核对措施与验证记录，填写审核意见</a:t>
            </a:r>
            <a:endParaRPr lang="en-US" sz="2900" noProof="1"/>
          </a:p>
        </p:txBody>
      </p:sp>
      <p:pic>
        <p:nvPicPr>
          <p:cNvPr id="4" name="p7-main"/>
          <p:cNvPicPr/>
          <p:nvPr/>
        </p:nvPicPr>
        <p:blipFill>
          <a:blip r:embed="rId2"/>
          <a:srcRect l="-18" r="-18"/>
          <a:stretch>
            <a:fillRect/>
          </a:stretch>
        </p:blipFill>
        <p:spPr>
          <a:xfrm>
            <a:off x="558800" y="1371600"/>
            <a:ext cx="7747000" cy="4356100"/>
          </a:xfrm>
          <a:prstGeom prst="rect">
            <a:avLst/>
          </a:prstGeom>
          <a:ln>
            <a:noFill/>
          </a:ln>
          <a:effectLst>
            <a:outerShdw blurRad="1016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5" name="p7-main-border"/>
          <p:cNvSpPr/>
          <p:nvPr/>
        </p:nvSpPr>
        <p:spPr>
          <a:xfrm>
            <a:off x="558800" y="1371600"/>
            <a:ext cx="7747000" cy="43561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pic>
        <p:nvPicPr>
          <p:cNvPr id="6" name="p7-side"/>
          <p:cNvPicPr/>
          <p:nvPr/>
        </p:nvPicPr>
        <p:blipFill>
          <a:blip r:embed="rId3"/>
          <a:srcRect t="-94" b="-94"/>
          <a:stretch>
            <a:fillRect/>
          </a:stretch>
        </p:blipFill>
        <p:spPr>
          <a:xfrm>
            <a:off x="8636000" y="1371600"/>
            <a:ext cx="2997200" cy="1689100"/>
          </a:xfrm>
          <a:prstGeom prst="rect">
            <a:avLst/>
          </a:prstGeom>
          <a:ln>
            <a:noFill/>
          </a:ln>
        </p:spPr>
      </p:pic>
      <p:sp>
        <p:nvSpPr>
          <p:cNvPr id="7" name="p7-side-border"/>
          <p:cNvSpPr/>
          <p:nvPr/>
        </p:nvSpPr>
        <p:spPr>
          <a:xfrm>
            <a:off x="8636000" y="1371600"/>
            <a:ext cx="2997200" cy="16891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8" name="p7-side-caption"/>
          <p:cNvSpPr txBox="1"/>
          <p:nvPr/>
        </p:nvSpPr>
        <p:spPr>
          <a:xfrm>
            <a:off x="8636000" y="3162300"/>
            <a:ext cx="299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5716C"/>
                </a:solidFill>
                <a:latin typeface="MiSans"/>
                <a:ea typeface="MiSans"/>
              </a:rPr>
              <a:t>通过后进入 APPROVED</a:t>
            </a:r>
            <a:endParaRPr lang="en-US" sz="1200" noProof="1"/>
          </a:p>
        </p:txBody>
      </p:sp>
      <p:sp>
        <p:nvSpPr>
          <p:cNvPr id="9" name="p7-steps"/>
          <p:cNvSpPr txBox="1"/>
          <p:nvPr/>
        </p:nvSpPr>
        <p:spPr>
          <a:xfrm>
            <a:off x="8636000" y="3695700"/>
            <a:ext cx="2997200" cy="180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 b="1">
                <a:solidFill>
                  <a:srgbClr val="D98E32"/>
                </a:solidFill>
                <a:latin typeface="MiSans"/>
                <a:ea typeface="MiSans"/>
              </a:rPr>
              <a:t>1</a:t>
            </a:r>
            <a:r>
              <a:rPr lang="en-US" sz="1500" noProof="1">
                <a:solidFill>
                  <a:srgbClr val="17211F"/>
                </a:solidFill>
                <a:latin typeface="MiSans"/>
                <a:ea typeface="MiSans"/>
              </a:rPr>
              <a:t>　检查措施与附件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 b="1">
                <a:solidFill>
                  <a:srgbClr val="D98E32"/>
                </a:solidFill>
                <a:latin typeface="MiSans"/>
                <a:ea typeface="MiSans"/>
              </a:rPr>
              <a:t>2</a:t>
            </a:r>
            <a:r>
              <a:rPr lang="en-US" sz="1500" noProof="1">
                <a:solidFill>
                  <a:srgbClr val="17211F"/>
                </a:solidFill>
                <a:latin typeface="MiSans"/>
                <a:ea typeface="MiSans"/>
              </a:rPr>
              <a:t>　填写审核意见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 b="1">
                <a:solidFill>
                  <a:srgbClr val="D98E32"/>
                </a:solidFill>
                <a:latin typeface="MiSans"/>
                <a:ea typeface="MiSans"/>
              </a:rPr>
              <a:t>3</a:t>
            </a:r>
            <a:r>
              <a:rPr lang="en-US" sz="1500" noProof="1">
                <a:solidFill>
                  <a:srgbClr val="17211F"/>
                </a:solidFill>
                <a:latin typeface="MiSans"/>
                <a:ea typeface="MiSans"/>
              </a:rPr>
              <a:t>　通过或驳回</a:t>
            </a:r>
            <a:endParaRPr lang="en-US" sz="1500" noProof="1"/>
          </a:p>
        </p:txBody>
      </p:sp>
      <p:sp>
        <p:nvSpPr>
          <p:cNvPr id="10" name="p7-footer"/>
          <p:cNvSpPr txBox="1"/>
          <p:nvPr/>
        </p:nvSpPr>
        <p:spPr>
          <a:xfrm>
            <a:off x="558800" y="60198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E5A55"/>
                </a:solidFill>
                <a:latin typeface="MiSans"/>
                <a:ea typeface="MiSans"/>
              </a:rPr>
              <a:t>只有 APPROVED 状态的 WKD 才能参与正式构建。</a:t>
            </a:r>
            <a:endParaRPr lang="en-US" sz="1400" noProof="1"/>
          </a:p>
        </p:txBody>
      </p:sp>
      <p:sp>
        <p:nvSpPr>
          <p:cNvPr id="11" name="p7-page"/>
          <p:cNvSpPr txBox="1"/>
          <p:nvPr/>
        </p:nvSpPr>
        <p:spPr>
          <a:xfrm>
            <a:off x="11150600" y="64135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07</a:t>
            </a:r>
            <a:endParaRPr lang="en-US" sz="13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8-label"/>
          <p:cNvSpPr txBox="1"/>
          <p:nvPr/>
        </p:nvSpPr>
        <p:spPr>
          <a:xfrm>
            <a:off x="558800" y="304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07  构建与发布</a:t>
            </a:r>
            <a:endParaRPr lang="en-US" sz="1200" noProof="1"/>
          </a:p>
        </p:txBody>
      </p:sp>
      <p:sp>
        <p:nvSpPr>
          <p:cNvPr id="3" name="p8-title"/>
          <p:cNvSpPr txBox="1"/>
          <p:nvPr/>
        </p:nvSpPr>
        <p:spPr>
          <a:xfrm>
            <a:off x="558800" y="6223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先调试验证，再执行正式构建</a:t>
            </a:r>
            <a:endParaRPr lang="en-US" sz="2900" noProof="1"/>
          </a:p>
        </p:txBody>
      </p:sp>
      <p:pic>
        <p:nvPicPr>
          <p:cNvPr id="4" name="p8-debug"/>
          <p:cNvPicPr/>
          <p:nvPr/>
        </p:nvPicPr>
        <p:blipFill>
          <a:blip r:embed="rId2"/>
          <a:srcRect t="-105" b="-105"/>
          <a:stretch>
            <a:fillRect/>
          </a:stretch>
        </p:blipFill>
        <p:spPr>
          <a:xfrm>
            <a:off x="558800" y="1422400"/>
            <a:ext cx="5384800" cy="3035300"/>
          </a:xfrm>
          <a:prstGeom prst="rect">
            <a:avLst/>
          </a:prstGeom>
          <a:ln>
            <a:noFill/>
          </a:ln>
          <a:effectLst>
            <a:outerShdw blurRad="889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5" name="p8-debug-border"/>
          <p:cNvSpPr/>
          <p:nvPr/>
        </p:nvSpPr>
        <p:spPr>
          <a:xfrm>
            <a:off x="558800" y="1422400"/>
            <a:ext cx="5384800" cy="30353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pic>
        <p:nvPicPr>
          <p:cNvPr id="6" name="p8-release"/>
          <p:cNvPicPr/>
          <p:nvPr/>
        </p:nvPicPr>
        <p:blipFill>
          <a:blip r:embed="rId3"/>
          <a:srcRect t="-105" b="-105"/>
          <a:stretch>
            <a:fillRect/>
          </a:stretch>
        </p:blipFill>
        <p:spPr>
          <a:xfrm>
            <a:off x="6248400" y="1422400"/>
            <a:ext cx="5384800" cy="3035300"/>
          </a:xfrm>
          <a:prstGeom prst="rect">
            <a:avLst/>
          </a:prstGeom>
          <a:ln>
            <a:noFill/>
          </a:ln>
          <a:effectLst>
            <a:outerShdw blurRad="889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7" name="p8-release-border"/>
          <p:cNvSpPr/>
          <p:nvPr/>
        </p:nvSpPr>
        <p:spPr>
          <a:xfrm>
            <a:off x="6248400" y="1422400"/>
            <a:ext cx="5384800" cy="30353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8" name="p8-debug-caption"/>
          <p:cNvSpPr txBox="1"/>
          <p:nvPr/>
        </p:nvSpPr>
        <p:spPr>
          <a:xfrm>
            <a:off x="558800" y="4572000"/>
            <a:ext cx="538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7211F"/>
                </a:solidFill>
                <a:latin typeface="MiSans"/>
                <a:ea typeface="MiSans"/>
              </a:rPr>
              <a:t>调试构建 · 用于验证措施与软件包</a:t>
            </a:r>
            <a:endParaRPr lang="en-US" sz="1400" noProof="1"/>
          </a:p>
        </p:txBody>
      </p:sp>
      <p:sp>
        <p:nvSpPr>
          <p:cNvPr id="9" name="p8-release-caption"/>
          <p:cNvSpPr txBox="1"/>
          <p:nvPr/>
        </p:nvSpPr>
        <p:spPr>
          <a:xfrm>
            <a:off x="6248400" y="4572000"/>
            <a:ext cx="538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7211F"/>
                </a:solidFill>
                <a:latin typeface="MiSans"/>
                <a:ea typeface="MiSans"/>
              </a:rPr>
              <a:t>正式构建 · 默认勾选已审核通过的 WKD</a:t>
            </a:r>
            <a:endParaRPr lang="en-US" sz="1400" noProof="1"/>
          </a:p>
        </p:txBody>
      </p:sp>
      <p:sp>
        <p:nvSpPr>
          <p:cNvPr id="10" name="p8-steps-bg"/>
          <p:cNvSpPr/>
          <p:nvPr/>
        </p:nvSpPr>
        <p:spPr>
          <a:xfrm>
            <a:off x="558800" y="5245100"/>
            <a:ext cx="11074400" cy="863600"/>
          </a:xfrm>
          <a:prstGeom prst="rect">
            <a:avLst/>
          </a:prstGeom>
          <a:solidFill>
            <a:srgbClr val="102725"/>
          </a:solidFill>
          <a:ln>
            <a:noFill/>
          </a:ln>
        </p:spPr>
      </p:sp>
      <p:sp>
        <p:nvSpPr>
          <p:cNvPr id="11" name="p8-steps"/>
          <p:cNvSpPr txBox="1"/>
          <p:nvPr/>
        </p:nvSpPr>
        <p:spPr>
          <a:xfrm>
            <a:off x="838200" y="54102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选择机台  →  勾选 WKD  →  构建并下载  →  解包后查看清单、按阶段执行</a:t>
            </a:r>
            <a:endParaRPr lang="en-US" sz="1500" noProof="1"/>
          </a:p>
        </p:txBody>
      </p:sp>
      <p:sp>
        <p:nvSpPr>
          <p:cNvPr id="12" name="p8-page"/>
          <p:cNvSpPr txBox="1"/>
          <p:nvPr/>
        </p:nvSpPr>
        <p:spPr>
          <a:xfrm>
            <a:off x="11150600" y="64135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08</a:t>
            </a:r>
            <a:endParaRPr lang="en-US" sz="13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9-label"/>
          <p:cNvSpPr txBox="1"/>
          <p:nvPr/>
        </p:nvSpPr>
        <p:spPr>
          <a:xfrm>
            <a:off x="558800" y="304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20" kern="0">
                <a:solidFill>
                  <a:srgbClr val="0E5A55"/>
                </a:solidFill>
                <a:latin typeface="MiSans"/>
                <a:ea typeface="MiSans"/>
              </a:rPr>
              <a:t>08  数据统计</a:t>
            </a:r>
            <a:endParaRPr lang="en-US" sz="1200" noProof="1"/>
          </a:p>
        </p:txBody>
      </p:sp>
      <p:sp>
        <p:nvSpPr>
          <p:cNvPr id="3" name="p9-title"/>
          <p:cNvSpPr txBox="1"/>
          <p:nvPr/>
        </p:nvSpPr>
        <p:spPr>
          <a:xfrm>
            <a:off x="558800" y="6223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900" noProof="1" b="1">
                <a:solidFill>
                  <a:srgbClr val="17211F"/>
                </a:solidFill>
                <a:latin typeface="MiSans"/>
                <a:ea typeface="MiSans"/>
              </a:rPr>
              <a:t>按条件查询，导出当前结果</a:t>
            </a:r>
            <a:endParaRPr lang="en-US" sz="2900" noProof="1"/>
          </a:p>
        </p:txBody>
      </p:sp>
      <p:pic>
        <p:nvPicPr>
          <p:cNvPr id="4" name="p9-image"/>
          <p:cNvPicPr/>
          <p:nvPr/>
        </p:nvPicPr>
        <p:blipFill>
          <a:blip r:embed="rId2"/>
          <a:srcRect b="18000"/>
          <a:stretch>
            <a:fillRect/>
          </a:stretch>
        </p:blipFill>
        <p:spPr>
          <a:xfrm>
            <a:off x="558800" y="1308100"/>
            <a:ext cx="8001000" cy="5054600"/>
          </a:xfrm>
          <a:prstGeom prst="rect">
            <a:avLst/>
          </a:prstGeom>
          <a:ln>
            <a:noFill/>
          </a:ln>
          <a:effectLst>
            <a:outerShdw blurRad="101600" dist="38100" dir="5400000" sx="100000" sy="100000" kx="0" ky="0" algn="bl" rotWithShape="0">
              <a:srgbClr val="17211F">
                <a:alpha val="9412"/>
              </a:srgbClr>
            </a:outerShdw>
          </a:effectLst>
        </p:spPr>
      </p:pic>
      <p:sp>
        <p:nvSpPr>
          <p:cNvPr id="5" name="p9-image-border"/>
          <p:cNvSpPr/>
          <p:nvPr/>
        </p:nvSpPr>
        <p:spPr>
          <a:xfrm>
            <a:off x="558800" y="1308100"/>
            <a:ext cx="8001000" cy="5054600"/>
          </a:xfrm>
          <a:prstGeom prst="rect">
            <a:avLst/>
          </a:prstGeom>
          <a:noFill/>
          <a:ln w="12700">
            <a:solidFill>
              <a:srgbClr val="D8DDD7"/>
            </a:solidFill>
          </a:ln>
        </p:spPr>
      </p:sp>
      <p:sp>
        <p:nvSpPr>
          <p:cNvPr id="6" name="p9-rule"/>
          <p:cNvSpPr/>
          <p:nvPr/>
        </p:nvSpPr>
        <p:spPr>
          <a:xfrm>
            <a:off x="8966200" y="1473200"/>
            <a:ext cx="38100" cy="3505200"/>
          </a:xfrm>
          <a:prstGeom prst="rect">
            <a:avLst/>
          </a:prstGeom>
          <a:solidFill>
            <a:srgbClr val="D98E32"/>
          </a:solidFill>
          <a:ln>
            <a:noFill/>
          </a:ln>
        </p:spPr>
      </p:sp>
      <p:sp>
        <p:nvSpPr>
          <p:cNvPr id="7" name="p9-steps"/>
          <p:cNvSpPr txBox="1"/>
          <p:nvPr/>
        </p:nvSpPr>
        <p:spPr>
          <a:xfrm>
            <a:off x="9347200" y="1422400"/>
            <a:ext cx="2286000" cy="287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5000"/>
              </a:lnSpc>
            </a:pPr>
            <a:r>
              <a:rPr lang="en-US" sz="1600" noProof="1" b="1">
                <a:solidFill>
                  <a:srgbClr val="17211F"/>
                </a:solidFill>
                <a:latin typeface="MiSans"/>
                <a:ea typeface="MiSans"/>
              </a:rPr>
              <a:t>1</a:t>
            </a:r>
            <a:r>
              <a:rPr lang="en-US" sz="1600" noProof="1">
                <a:solidFill>
                  <a:srgbClr val="17211F"/>
                </a:solidFill>
                <a:latin typeface="MiSans"/>
                <a:ea typeface="MiSans"/>
              </a:rPr>
              <a:t>　项目／全局统计</a:t>
            </a:r>
            <a:endParaRPr lang="en-US" sz="1600" noProof="1"/>
          </a:p>
          <a:p>
            <a:pPr>
              <a:lnSpc>
                <a:spcPct val="185000"/>
              </a:lnSpc>
            </a:pPr>
            <a:r>
              <a:rPr lang="en-US" sz="1600" noProof="1" b="1">
                <a:solidFill>
                  <a:srgbClr val="17211F"/>
                </a:solidFill>
                <a:latin typeface="MiSans"/>
                <a:ea typeface="MiSans"/>
              </a:rPr>
              <a:t>2</a:t>
            </a:r>
            <a:r>
              <a:rPr lang="en-US" sz="1600" noProof="1">
                <a:solidFill>
                  <a:srgbClr val="17211F"/>
                </a:solidFill>
                <a:latin typeface="MiSans"/>
                <a:ea typeface="MiSans"/>
              </a:rPr>
              <a:t>　组合筛选条件</a:t>
            </a:r>
            <a:endParaRPr lang="en-US" sz="1600" noProof="1"/>
          </a:p>
          <a:p>
            <a:pPr>
              <a:lnSpc>
                <a:spcPct val="185000"/>
              </a:lnSpc>
            </a:pPr>
            <a:r>
              <a:rPr lang="en-US" sz="1600" noProof="1" b="1">
                <a:solidFill>
                  <a:srgbClr val="17211F"/>
                </a:solidFill>
                <a:latin typeface="MiSans"/>
                <a:ea typeface="MiSans"/>
              </a:rPr>
              <a:t>3</a:t>
            </a:r>
            <a:r>
              <a:rPr lang="en-US" sz="1600" noProof="1">
                <a:solidFill>
                  <a:srgbClr val="17211F"/>
                </a:solidFill>
                <a:latin typeface="MiSans"/>
                <a:ea typeface="MiSans"/>
              </a:rPr>
              <a:t>　查看指标与明细</a:t>
            </a:r>
            <a:endParaRPr lang="en-US" sz="1600" noProof="1"/>
          </a:p>
          <a:p>
            <a:pPr>
              <a:lnSpc>
                <a:spcPct val="185000"/>
              </a:lnSpc>
            </a:pPr>
            <a:r>
              <a:rPr lang="en-US" sz="1600" noProof="1" b="1">
                <a:solidFill>
                  <a:srgbClr val="17211F"/>
                </a:solidFill>
                <a:latin typeface="MiSans"/>
                <a:ea typeface="MiSans"/>
              </a:rPr>
              <a:t>4</a:t>
            </a:r>
            <a:r>
              <a:rPr lang="en-US" sz="1600" noProof="1">
                <a:solidFill>
                  <a:srgbClr val="17211F"/>
                </a:solidFill>
                <a:latin typeface="MiSans"/>
                <a:ea typeface="MiSans"/>
              </a:rPr>
              <a:t>　导出 XLSX</a:t>
            </a:r>
            <a:endParaRPr lang="en-US" sz="1600" noProof="1"/>
          </a:p>
        </p:txBody>
      </p:sp>
      <p:sp>
        <p:nvSpPr>
          <p:cNvPr id="8" name="p9-note"/>
          <p:cNvSpPr txBox="1"/>
          <p:nvPr/>
        </p:nvSpPr>
        <p:spPr>
          <a:xfrm>
            <a:off x="9347200" y="46228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高级筛选支持版本、子系统、人员与执行属性等条件。</a:t>
            </a:r>
            <a:endParaRPr lang="en-US" sz="1300" noProof="1"/>
          </a:p>
        </p:txBody>
      </p:sp>
      <p:sp>
        <p:nvSpPr>
          <p:cNvPr id="9" name="p9-page"/>
          <p:cNvSpPr txBox="1"/>
          <p:nvPr/>
        </p:nvSpPr>
        <p:spPr>
          <a:xfrm>
            <a:off x="11150600" y="65278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300" noProof="1">
                <a:solidFill>
                  <a:srgbClr val="65716C"/>
                </a:solidFill>
                <a:latin typeface="MiSans"/>
                <a:ea typeface="MiSans"/>
              </a:rPr>
              <a:t>09</a:t>
            </a:r>
            <a:endParaRPr lang="en-US" sz="13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027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-label"/>
          <p:cNvSpPr txBox="1"/>
          <p:nvPr/>
        </p:nvSpPr>
        <p:spPr>
          <a:xfrm>
            <a:off x="609600" y="4445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40" kern="0">
                <a:solidFill>
                  <a:srgbClr val="A9C5BC"/>
                </a:solidFill>
                <a:latin typeface="MiSans"/>
                <a:ea typeface="MiSans"/>
              </a:rPr>
              <a:t>操作自查</a:t>
            </a:r>
            <a:endParaRPr lang="en-US" sz="1200" noProof="1"/>
          </a:p>
        </p:txBody>
      </p:sp>
      <p:sp>
        <p:nvSpPr>
          <p:cNvPr id="3" name="p10-title"/>
          <p:cNvSpPr txBox="1"/>
          <p:nvPr/>
        </p:nvSpPr>
        <p:spPr>
          <a:xfrm>
            <a:off x="609600" y="850900"/>
            <a:ext cx="5461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3100" noProof="1" b="1">
                <a:solidFill>
                  <a:srgbClr val="FFFFFF"/>
                </a:solidFill>
                <a:latin typeface="MiSans"/>
                <a:ea typeface="MiSans"/>
              </a:rPr>
              <a:t>每次提交前
核对这五项</a:t>
            </a:r>
            <a:endParaRPr lang="en-US" sz="3100" noProof="1"/>
          </a:p>
        </p:txBody>
      </p:sp>
      <p:sp>
        <p:nvSpPr>
          <p:cNvPr id="4" name="p10-checks"/>
          <p:cNvSpPr txBox="1"/>
          <p:nvPr/>
        </p:nvSpPr>
        <p:spPr>
          <a:xfrm>
            <a:off x="609600" y="2298700"/>
            <a:ext cx="5461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600" noProof="1">
                <a:solidFill>
                  <a:srgbClr val="FFFFFF"/>
                </a:solidFill>
                <a:latin typeface="MiSans"/>
                <a:ea typeface="MiSans"/>
              </a:rPr>
              <a:t>□　项目与版本正确</a:t>
            </a:r>
            <a:endParaRPr lang="en-US" sz="1600" noProof="1"/>
          </a:p>
          <a:p>
            <a:pPr>
              <a:lnSpc>
                <a:spcPct val="190000"/>
              </a:lnSpc>
            </a:pPr>
            <a:r>
              <a:rPr lang="en-US" sz="1600" noProof="1">
                <a:solidFill>
                  <a:srgbClr val="FFFFFF"/>
                </a:solidFill>
                <a:latin typeface="MiSans"/>
                <a:ea typeface="MiSans"/>
              </a:rPr>
              <a:t>□　单据、机台与必填字段完整</a:t>
            </a:r>
            <a:endParaRPr lang="en-US" sz="1600" noProof="1"/>
          </a:p>
          <a:p>
            <a:pPr>
              <a:lnSpc>
                <a:spcPct val="190000"/>
              </a:lnSpc>
            </a:pPr>
            <a:r>
              <a:rPr lang="en-US" sz="1600" noProof="1">
                <a:solidFill>
                  <a:srgbClr val="FFFFFF"/>
                </a:solidFill>
                <a:latin typeface="MiSans"/>
                <a:ea typeface="MiSans"/>
              </a:rPr>
              <a:t>□　阶段和原子操作顺序正确</a:t>
            </a:r>
            <a:endParaRPr lang="en-US" sz="1600" noProof="1"/>
          </a:p>
          <a:p>
            <a:pPr>
              <a:lnSpc>
                <a:spcPct val="190000"/>
              </a:lnSpc>
            </a:pPr>
            <a:r>
              <a:rPr lang="en-US" sz="1600" noProof="1">
                <a:solidFill>
                  <a:srgbClr val="FFFFFF"/>
                </a:solidFill>
                <a:latin typeface="MiSans"/>
                <a:ea typeface="MiSans"/>
              </a:rPr>
              <a:t>□　验证说明与审核意见已填写</a:t>
            </a:r>
            <a:endParaRPr lang="en-US" sz="1600" noProof="1"/>
          </a:p>
          <a:p>
            <a:pPr>
              <a:lnSpc>
                <a:spcPct val="190000"/>
              </a:lnSpc>
            </a:pPr>
            <a:r>
              <a:rPr lang="en-US" sz="1600" noProof="1">
                <a:solidFill>
                  <a:srgbClr val="FFFFFF"/>
                </a:solidFill>
                <a:latin typeface="MiSans"/>
                <a:ea typeface="MiSans"/>
              </a:rPr>
              <a:t>□　构建清单与软件包已核对</a:t>
            </a:r>
            <a:endParaRPr lang="en-US" sz="1600" noProof="1"/>
          </a:p>
        </p:txBody>
      </p:sp>
      <p:pic>
        <p:nvPicPr>
          <p:cNvPr id="5" name="p10-image"/>
          <p:cNvPicPr/>
          <p:nvPr/>
        </p:nvPicPr>
        <p:blipFill>
          <a:blip r:embed="rId2"/>
          <a:srcRect b="22000"/>
          <a:stretch>
            <a:fillRect/>
          </a:stretch>
        </p:blipFill>
        <p:spPr>
          <a:xfrm>
            <a:off x="6604000" y="1333500"/>
            <a:ext cx="5029200" cy="3022600"/>
          </a:xfrm>
          <a:prstGeom prst="rect">
            <a:avLst/>
          </a:prstGeom>
          <a:ln>
            <a:noFill/>
          </a:ln>
          <a:effectLst>
            <a:outerShdw blurRad="177800" dist="88900" dir="5400000" sx="100000" sy="100000" kx="0" ky="0" algn="bl" rotWithShape="0">
              <a:srgbClr val="000000">
                <a:alpha val="26667"/>
              </a:srgbClr>
            </a:outerShdw>
          </a:effectLst>
        </p:spPr>
      </p:pic>
      <p:sp>
        <p:nvSpPr>
          <p:cNvPr id="6" name="p10-image-border"/>
          <p:cNvSpPr/>
          <p:nvPr/>
        </p:nvSpPr>
        <p:spPr>
          <a:xfrm>
            <a:off x="6604000" y="1333500"/>
            <a:ext cx="5029200" cy="3022600"/>
          </a:xfrm>
          <a:prstGeom prst="rect">
            <a:avLst/>
          </a:prstGeom>
          <a:noFill/>
          <a:ln w="12700">
            <a:solidFill>
              <a:srgbClr val="D8DDD7">
                <a:alpha val="26667"/>
              </a:srgbClr>
            </a:solidFill>
          </a:ln>
        </p:spPr>
      </p:sp>
      <p:sp>
        <p:nvSpPr>
          <p:cNvPr id="7" name="p10-caption"/>
          <p:cNvSpPr txBox="1"/>
          <p:nvPr/>
        </p:nvSpPr>
        <p:spPr>
          <a:xfrm>
            <a:off x="6604000" y="4597400"/>
            <a:ext cx="5029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C8D8D2"/>
                </a:solidFill>
                <a:latin typeface="MiSans"/>
                <a:ea typeface="MiSans"/>
              </a:rPr>
              <a:t>权限由当前项目角色决定
需要更多权限时，联系项目管理员</a:t>
            </a:r>
            <a:endParaRPr lang="en-US" sz="1400" noProof="1"/>
          </a:p>
        </p:txBody>
      </p:sp>
      <p:sp>
        <p:nvSpPr>
          <p:cNvPr id="8" name="p10-footer"/>
          <p:cNvSpPr txBox="1"/>
          <p:nvPr/>
        </p:nvSpPr>
        <p:spPr>
          <a:xfrm>
            <a:off x="609600" y="6057900"/>
            <a:ext cx="825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9A69C"/>
                </a:solidFill>
                <a:latin typeface="MiSans"/>
                <a:ea typeface="MiSans"/>
              </a:rPr>
              <a:t>页面提示与项目流程要求优先。</a:t>
            </a:r>
            <a:endParaRPr lang="en-US" sz="1200" noProof="1"/>
          </a:p>
        </p:txBody>
      </p:sp>
      <p:sp>
        <p:nvSpPr>
          <p:cNvPr id="9" name="p10-page"/>
          <p:cNvSpPr txBox="1"/>
          <p:nvPr/>
        </p:nvSpPr>
        <p:spPr>
          <a:xfrm>
            <a:off x="11125200" y="60579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89A69C"/>
                </a:solidFill>
                <a:latin typeface="MiSans"/>
                <a:ea typeface="MiSans"/>
              </a:rPr>
              <a:t>10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>
  <dc:title>training-wmp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